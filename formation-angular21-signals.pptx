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46888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B8862B"/>
                </a:solidFill>
                <a:latin typeface="Consolas"/>
              </a:rPr>
              <a:t>tasks</a:t>
            </a:r>
            <a:r>
              <a:rPr sz="3000" b="1" i="0">
                <a:solidFill>
                  <a:srgbClr val="14171C"/>
                </a:solidFill>
                <a:latin typeface="Consolas"/>
              </a:rPr>
              <a:t>.store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20040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14171C"/>
                </a:solidFill>
                <a:latin typeface="Segoe UI Semibold"/>
              </a:rPr>
              <a:t>Signals, détection, DI moderne &amp; smart/dumb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06908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 i="0">
                <a:solidFill>
                  <a:srgbClr val="4B5259"/>
                </a:solidFill>
                <a:latin typeface="Segoe UI"/>
              </a:rPr>
              <a:t>Formation Angular 21 — support de suivi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B8862B"/>
                </a:solidFill>
                <a:latin typeface="Consolas"/>
              </a:rPr>
              <a:t>tasks</a:t>
            </a:r>
            <a:r>
              <a:rPr sz="1500" b="1" i="0">
                <a:solidFill>
                  <a:srgbClr val="14171C"/>
                </a:solidFill>
                <a:latin typeface="Consolas"/>
              </a:rPr>
              <a:t>.store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4B5259"/>
                </a:solidFill>
                <a:latin typeface="Segoe UI"/>
              </a:rPr>
              <a:t>Sommaire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868680"/>
            <a:ext cx="457200" cy="31750"/>
          </a:xfrm>
          <a:prstGeom prst="rect">
            <a:avLst/>
          </a:prstGeom>
          <a:solidFill>
            <a:srgbClr val="B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108200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4171C"/>
                </a:solidFill>
                <a:latin typeface="Segoe UI Semibold"/>
              </a:rPr>
              <a:t>Ce que couvre cette 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1082009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864"/>
              </a:spcAft>
            </a:pPr>
            <a:r>
              <a:rPr sz="1600" b="0" i="0">
                <a:solidFill>
                  <a:srgbClr val="B8862B"/>
                </a:solidFill>
                <a:latin typeface="Segoe UI"/>
              </a:rPr>
              <a:t>☐  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Mise en place du projet — Angular 21, standalone, zoneless</a:t>
            </a:r>
          </a:p>
          <a:p>
            <a:pPr>
              <a:spcAft>
                <a:spcPts val="2864"/>
              </a:spcAft>
            </a:pPr>
            <a:r>
              <a:rPr sz="1600" b="0" i="0">
                <a:solidFill>
                  <a:srgbClr val="B8862B"/>
                </a:solidFill>
                <a:latin typeface="Segoe UI"/>
              </a:rPr>
              <a:t>☐  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Point 1 — Signals et opérateurs</a:t>
            </a:r>
          </a:p>
          <a:p>
            <a:pPr>
              <a:spcAft>
                <a:spcPts val="2864"/>
              </a:spcAft>
            </a:pPr>
            <a:r>
              <a:rPr sz="1600" b="0" i="0">
                <a:solidFill>
                  <a:srgbClr val="B8862B"/>
                </a:solidFill>
                <a:latin typeface="Segoe UI"/>
              </a:rPr>
              <a:t>☐  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Point 2 — Stratégie de détection des composants</a:t>
            </a:r>
          </a:p>
          <a:p>
            <a:pPr>
              <a:spcAft>
                <a:spcPts val="2864"/>
              </a:spcAft>
            </a:pPr>
            <a:r>
              <a:rPr sz="1600" b="0" i="0">
                <a:solidFill>
                  <a:srgbClr val="B8862B"/>
                </a:solidFill>
                <a:latin typeface="Segoe UI"/>
              </a:rPr>
              <a:t>☐  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Point 3 — Injection de dépendances moderne</a:t>
            </a:r>
          </a:p>
          <a:p>
            <a:pPr>
              <a:spcAft>
                <a:spcPts val="2864"/>
              </a:spcAft>
            </a:pPr>
            <a:r>
              <a:rPr sz="1600" b="0" i="0">
                <a:solidFill>
                  <a:srgbClr val="B8862B"/>
                </a:solidFill>
                <a:latin typeface="Segoe UI"/>
              </a:rPr>
              <a:t>☐  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Point 4 — Pattern smart / dumb</a:t>
            </a:r>
          </a:p>
          <a:p>
            <a:pPr>
              <a:spcAft>
                <a:spcPts val="2864"/>
              </a:spcAft>
            </a:pPr>
            <a:r>
              <a:rPr sz="1600" b="0" i="0">
                <a:solidFill>
                  <a:srgbClr val="B8862B"/>
                </a:solidFill>
                <a:latin typeface="Segoe UI"/>
              </a:rPr>
              <a:t>☐  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Suivi de progression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63640"/>
            <a:ext cx="10820095" cy="12700"/>
          </a:xfrm>
          <a:prstGeom prst="rect">
            <a:avLst/>
          </a:prstGeom>
          <a:solidFill>
            <a:srgbClr val="D7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5508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 i="0">
                <a:solidFill>
                  <a:srgbClr val="7C848C"/>
                </a:solidFill>
                <a:latin typeface="Segoe UI"/>
              </a:rPr>
              <a:t>Application support : </a:t>
            </a:r>
            <a:r>
              <a:rPr sz="1150" b="0" i="0">
                <a:solidFill>
                  <a:srgbClr val="4B5259"/>
                </a:solidFill>
                <a:latin typeface="Consolas"/>
              </a:rPr>
              <a:t>tasks.store</a:t>
            </a:r>
            <a:r>
              <a:rPr sz="1150" b="0" i="0">
                <a:solidFill>
                  <a:srgbClr val="7C848C"/>
                </a:solidFill>
                <a:latin typeface="Segoe UI"/>
              </a:rPr>
              <a:t> — gestion de tâches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B8862B"/>
                </a:solidFill>
                <a:latin typeface="Consolas"/>
              </a:rPr>
              <a:t>tasks</a:t>
            </a:r>
            <a:r>
              <a:rPr sz="1500" b="1" i="0">
                <a:solidFill>
                  <a:srgbClr val="14171C"/>
                </a:solidFill>
                <a:latin typeface="Consolas"/>
              </a:rPr>
              <a:t>.store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19895" y="4114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7C848C"/>
                </a:solidFill>
                <a:latin typeface="Segoe UI"/>
              </a:rPr>
              <a:t>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4B5259"/>
                </a:solidFill>
                <a:latin typeface="Segoe UI"/>
              </a:rPr>
              <a:t>Mise en place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868680"/>
            <a:ext cx="457200" cy="31750"/>
          </a:xfrm>
          <a:prstGeom prst="rect">
            <a:avLst/>
          </a:prstGeom>
          <a:solidFill>
            <a:srgbClr val="B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108200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4171C"/>
                </a:solidFill>
                <a:latin typeface="Segoe UI Semibold"/>
              </a:rPr>
              <a:t>Projet initial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1082009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864"/>
              </a:spcAft>
            </a:pPr>
            <a:r>
              <a:rPr sz="1600" b="0" i="0">
                <a:solidFill>
                  <a:srgbClr val="B8862B"/>
                </a:solidFill>
                <a:latin typeface="Segoe UI"/>
              </a:rPr>
              <a:t>☐  </a:t>
            </a:r>
            <a:r>
              <a:rPr sz="1450" b="0" i="0">
                <a:solidFill>
                  <a:srgbClr val="14171C"/>
                </a:solidFill>
                <a:latin typeface="Consolas"/>
              </a:rPr>
              <a:t>ng new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 — Angular 21, standalone, zoneless</a:t>
            </a:r>
          </a:p>
          <a:p>
            <a:pPr>
              <a:spcAft>
                <a:spcPts val="2864"/>
              </a:spcAft>
            </a:pPr>
            <a:r>
              <a:rPr sz="1600" b="0" i="0">
                <a:solidFill>
                  <a:srgbClr val="B8862B"/>
                </a:solidFill>
                <a:latin typeface="Segoe UI"/>
              </a:rPr>
              <a:t>☐  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Control flow natif partout — </a:t>
            </a:r>
            <a:r>
              <a:rPr sz="1450" b="0" i="0">
                <a:solidFill>
                  <a:srgbClr val="14171C"/>
                </a:solidFill>
                <a:latin typeface="Consolas"/>
              </a:rPr>
              <a:t>@if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 / </a:t>
            </a:r>
            <a:r>
              <a:rPr sz="1450" b="0" i="0">
                <a:solidFill>
                  <a:srgbClr val="14171C"/>
                </a:solidFill>
                <a:latin typeface="Consolas"/>
              </a:rPr>
              <a:t>@for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 / </a:t>
            </a:r>
            <a:r>
              <a:rPr sz="1450" b="0" i="0">
                <a:solidFill>
                  <a:srgbClr val="14171C"/>
                </a:solidFill>
                <a:latin typeface="Consolas"/>
              </a:rPr>
              <a:t>@switch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, jamais </a:t>
            </a:r>
            <a:r>
              <a:rPr sz="1450" b="0" i="0">
                <a:solidFill>
                  <a:srgbClr val="14171C"/>
                </a:solidFill>
                <a:latin typeface="Consolas"/>
              </a:rPr>
              <a:t>*ngIf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 / </a:t>
            </a:r>
            <a:r>
              <a:rPr sz="1450" b="0" i="0">
                <a:solidFill>
                  <a:srgbClr val="14171C"/>
                </a:solidFill>
                <a:latin typeface="Consolas"/>
              </a:rPr>
              <a:t>*ngFor</a:t>
            </a:r>
          </a:p>
          <a:p>
            <a:pPr>
              <a:spcAft>
                <a:spcPts val="2864"/>
              </a:spcAft>
            </a:pPr>
            <a:r>
              <a:rPr sz="1600" b="0" i="0">
                <a:solidFill>
                  <a:srgbClr val="B8862B"/>
                </a:solidFill>
                <a:latin typeface="Segoe UI"/>
              </a:rPr>
              <a:t>☐  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Structure par feature — </a:t>
            </a:r>
            <a:r>
              <a:rPr sz="1450" b="0" i="0">
                <a:solidFill>
                  <a:srgbClr val="14171C"/>
                </a:solidFill>
                <a:latin typeface="Consolas"/>
              </a:rPr>
              <a:t>core/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, </a:t>
            </a:r>
            <a:r>
              <a:rPr sz="1450" b="0" i="0">
                <a:solidFill>
                  <a:srgbClr val="14171C"/>
                </a:solidFill>
                <a:latin typeface="Consolas"/>
              </a:rPr>
              <a:t>shared/ui/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, </a:t>
            </a:r>
            <a:r>
              <a:rPr sz="1450" b="0" i="0">
                <a:solidFill>
                  <a:srgbClr val="14171C"/>
                </a:solidFill>
                <a:latin typeface="Consolas"/>
              </a:rPr>
              <a:t>shared/data-access/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, </a:t>
            </a:r>
            <a:r>
              <a:rPr sz="1450" b="0" i="0">
                <a:solidFill>
                  <a:srgbClr val="14171C"/>
                </a:solidFill>
                <a:latin typeface="Consolas"/>
              </a:rPr>
              <a:t>features/</a:t>
            </a:r>
          </a:p>
          <a:p>
            <a:pPr>
              <a:spcAft>
                <a:spcPts val="2864"/>
              </a:spcAft>
            </a:pPr>
            <a:r>
              <a:rPr sz="1600" b="0" i="0">
                <a:solidFill>
                  <a:srgbClr val="B8862B"/>
                </a:solidFill>
                <a:latin typeface="Segoe UI"/>
              </a:rPr>
              <a:t>☐  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Application support : gestion de tâches (liste, filtres, création, édition)</a:t>
            </a:r>
          </a:p>
          <a:p>
            <a:pPr>
              <a:spcAft>
                <a:spcPts val="2864"/>
              </a:spcAft>
            </a:pPr>
            <a:r>
              <a:rPr sz="1600" b="0" i="0">
                <a:solidFill>
                  <a:srgbClr val="B8862B"/>
                </a:solidFill>
                <a:latin typeface="Segoe UI"/>
              </a:rPr>
              <a:t>☐  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Pas de backend réel — </a:t>
            </a:r>
            <a:r>
              <a:rPr sz="1450" b="0" i="0">
                <a:solidFill>
                  <a:srgbClr val="14171C"/>
                </a:solidFill>
                <a:latin typeface="Consolas"/>
              </a:rPr>
              <a:t>TaskApiService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 simule un appel avec </a:t>
            </a:r>
            <a:r>
              <a:rPr sz="1450" b="0" i="0">
                <a:solidFill>
                  <a:srgbClr val="14171C"/>
                </a:solidFill>
                <a:latin typeface="Consolas"/>
              </a:rPr>
              <a:t>delay(300)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263640"/>
            <a:ext cx="10820095" cy="12700"/>
          </a:xfrm>
          <a:prstGeom prst="rect">
            <a:avLst/>
          </a:prstGeom>
          <a:solidFill>
            <a:srgbClr val="D7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35508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 i="0">
                <a:solidFill>
                  <a:srgbClr val="4B5259"/>
                </a:solidFill>
                <a:latin typeface="Consolas"/>
              </a:rPr>
              <a:t>angular.json</a:t>
            </a:r>
            <a:r>
              <a:rPr sz="1150" b="0" i="0">
                <a:solidFill>
                  <a:srgbClr val="7C848C"/>
                </a:solidFill>
                <a:latin typeface="Segoe UI"/>
              </a:rPr>
              <a:t>, </a:t>
            </a:r>
            <a:r>
              <a:rPr sz="1150" b="0" i="0">
                <a:solidFill>
                  <a:srgbClr val="4B5259"/>
                </a:solidFill>
                <a:latin typeface="Consolas"/>
              </a:rPr>
              <a:t>tsconfig.json</a:t>
            </a:r>
            <a:r>
              <a:rPr sz="1150" b="0" i="0">
                <a:solidFill>
                  <a:srgbClr val="7C848C"/>
                </a:solidFill>
                <a:latin typeface="Segoe UI"/>
              </a:rPr>
              <a:t> (alias </a:t>
            </a:r>
            <a:r>
              <a:rPr sz="1150" b="0" i="0">
                <a:solidFill>
                  <a:srgbClr val="4B5259"/>
                </a:solidFill>
                <a:latin typeface="Consolas"/>
              </a:rPr>
              <a:t>@core</a:t>
            </a:r>
            <a:r>
              <a:rPr sz="1150" b="0" i="0">
                <a:solidFill>
                  <a:srgbClr val="7C848C"/>
                </a:solidFill>
                <a:latin typeface="Segoe UI"/>
              </a:rPr>
              <a:t>, </a:t>
            </a:r>
            <a:r>
              <a:rPr sz="1150" b="0" i="0">
                <a:solidFill>
                  <a:srgbClr val="4B5259"/>
                </a:solidFill>
                <a:latin typeface="Consolas"/>
              </a:rPr>
              <a:t>@shared</a:t>
            </a:r>
            <a:r>
              <a:rPr sz="1150" b="0" i="0">
                <a:solidFill>
                  <a:srgbClr val="7C848C"/>
                </a:solidFill>
                <a:latin typeface="Segoe UI"/>
              </a:rPr>
              <a:t>, </a:t>
            </a:r>
            <a:r>
              <a:rPr sz="1150" b="0" i="0">
                <a:solidFill>
                  <a:srgbClr val="4B5259"/>
                </a:solidFill>
                <a:latin typeface="Consolas"/>
              </a:rPr>
              <a:t>@features</a:t>
            </a:r>
            <a:r>
              <a:rPr sz="1150" b="0" i="0">
                <a:solidFill>
                  <a:srgbClr val="7C848C"/>
                </a:solidFill>
                <a:latin typeface="Segoe UI"/>
              </a:rPr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B8862B"/>
                </a:solidFill>
                <a:latin typeface="Consolas"/>
              </a:rPr>
              <a:t>tasks</a:t>
            </a:r>
            <a:r>
              <a:rPr sz="1500" b="1" i="0">
                <a:solidFill>
                  <a:srgbClr val="14171C"/>
                </a:solidFill>
                <a:latin typeface="Consolas"/>
              </a:rPr>
              <a:t>.store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19895" y="4114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7C848C"/>
                </a:solidFill>
                <a:latin typeface="Segoe UI"/>
              </a:rPr>
              <a:t>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4B5259"/>
                </a:solidFill>
                <a:latin typeface="Segoe UI"/>
              </a:rPr>
              <a:t>Point 1 sur 4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868680"/>
            <a:ext cx="457200" cy="31750"/>
          </a:xfrm>
          <a:prstGeom prst="rect">
            <a:avLst/>
          </a:prstGeom>
          <a:solidFill>
            <a:srgbClr val="B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108200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4171C"/>
                </a:solidFill>
                <a:latin typeface="Segoe UI Semibold"/>
              </a:rPr>
              <a:t>Signals et opérateurs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1082009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864"/>
              </a:spcAft>
            </a:pPr>
            <a:r>
              <a:rPr sz="1600" b="0" i="0">
                <a:solidFill>
                  <a:srgbClr val="B8862B"/>
                </a:solidFill>
                <a:latin typeface="Segoe UI"/>
              </a:rPr>
              <a:t>☐  </a:t>
            </a:r>
            <a:r>
              <a:rPr sz="1450" b="0" i="0">
                <a:solidFill>
                  <a:srgbClr val="14171C"/>
                </a:solidFill>
                <a:latin typeface="Consolas"/>
              </a:rPr>
              <a:t>signal()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 — état source : la liste des tâches</a:t>
            </a:r>
          </a:p>
          <a:p>
            <a:pPr>
              <a:spcAft>
                <a:spcPts val="2864"/>
              </a:spcAft>
            </a:pPr>
            <a:r>
              <a:rPr sz="1600" b="0" i="0">
                <a:solidFill>
                  <a:srgbClr val="B8862B"/>
                </a:solidFill>
                <a:latin typeface="Segoe UI"/>
              </a:rPr>
              <a:t>☐  </a:t>
            </a:r>
            <a:r>
              <a:rPr sz="1450" b="0" i="0">
                <a:solidFill>
                  <a:srgbClr val="14171C"/>
                </a:solidFill>
                <a:latin typeface="Consolas"/>
              </a:rPr>
              <a:t>computed()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 — état dérivé pur : compteur, liste filtrée</a:t>
            </a:r>
          </a:p>
          <a:p>
            <a:pPr>
              <a:spcAft>
                <a:spcPts val="2864"/>
              </a:spcAft>
            </a:pPr>
            <a:r>
              <a:rPr sz="1600" b="0" i="0">
                <a:solidFill>
                  <a:srgbClr val="B8862B"/>
                </a:solidFill>
                <a:latin typeface="Segoe UI"/>
              </a:rPr>
              <a:t>☐  </a:t>
            </a:r>
            <a:r>
              <a:rPr sz="1450" b="0" i="0">
                <a:solidFill>
                  <a:srgbClr val="14171C"/>
                </a:solidFill>
                <a:latin typeface="Consolas"/>
              </a:rPr>
              <a:t>equal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 personnalisé — comparaison de contenu sur un tableau/objet</a:t>
            </a:r>
          </a:p>
          <a:p>
            <a:pPr>
              <a:spcAft>
                <a:spcPts val="2864"/>
              </a:spcAft>
            </a:pPr>
            <a:r>
              <a:rPr sz="1600" b="0" i="0">
                <a:solidFill>
                  <a:srgbClr val="B8862B"/>
                </a:solidFill>
                <a:latin typeface="Segoe UI"/>
              </a:rPr>
              <a:t>☐  </a:t>
            </a:r>
            <a:r>
              <a:rPr sz="1450" b="0" i="0">
                <a:solidFill>
                  <a:srgbClr val="14171C"/>
                </a:solidFill>
                <a:latin typeface="Consolas"/>
              </a:rPr>
              <a:t>linkedSignal()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 — se réinitialise avec le contexte, reste modifiable ensuite</a:t>
            </a:r>
          </a:p>
          <a:p>
            <a:pPr>
              <a:spcAft>
                <a:spcPts val="2864"/>
              </a:spcAft>
            </a:pPr>
            <a:r>
              <a:rPr sz="1600" b="0" i="0">
                <a:solidFill>
                  <a:srgbClr val="B8862B"/>
                </a:solidFill>
                <a:latin typeface="Segoe UI"/>
              </a:rPr>
              <a:t>☐  </a:t>
            </a:r>
            <a:r>
              <a:rPr sz="1450" b="0" i="0">
                <a:solidFill>
                  <a:srgbClr val="14171C"/>
                </a:solidFill>
                <a:latin typeface="Consolas"/>
              </a:rPr>
              <a:t>effect()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 — effet de bord isolé, pas un </a:t>
            </a:r>
            <a:r>
              <a:rPr sz="1450" b="0" i="0">
                <a:solidFill>
                  <a:srgbClr val="14171C"/>
                </a:solidFill>
                <a:latin typeface="Consolas"/>
              </a:rPr>
              <a:t>computed()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 : persistance</a:t>
            </a:r>
          </a:p>
          <a:p>
            <a:pPr>
              <a:spcAft>
                <a:spcPts val="2864"/>
              </a:spcAft>
            </a:pPr>
            <a:r>
              <a:rPr sz="1600" b="0" i="0">
                <a:solidFill>
                  <a:srgbClr val="B8862B"/>
                </a:solidFill>
                <a:latin typeface="Segoe UI"/>
              </a:rPr>
              <a:t>☐  </a:t>
            </a:r>
            <a:r>
              <a:rPr sz="1450" b="0" i="0">
                <a:solidFill>
                  <a:srgbClr val="14171C"/>
                </a:solidFill>
                <a:latin typeface="Consolas"/>
              </a:rPr>
              <a:t>effect()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 + </a:t>
            </a:r>
            <a:r>
              <a:rPr sz="1450" b="0" i="0">
                <a:solidFill>
                  <a:srgbClr val="14171C"/>
                </a:solidFill>
                <a:latin typeface="Consolas"/>
              </a:rPr>
              <a:t>untracked()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 — lire sans dépendre, piège de boucle infinie évité</a:t>
            </a:r>
          </a:p>
          <a:p>
            <a:pPr>
              <a:spcAft>
                <a:spcPts val="2864"/>
              </a:spcAft>
            </a:pPr>
            <a:r>
              <a:rPr sz="1600" b="0" i="0">
                <a:solidFill>
                  <a:srgbClr val="B8862B"/>
                </a:solidFill>
                <a:latin typeface="Segoe UI"/>
              </a:rPr>
              <a:t>☐  </a:t>
            </a:r>
            <a:r>
              <a:rPr sz="1450" b="0" i="0">
                <a:solidFill>
                  <a:srgbClr val="14171C"/>
                </a:solidFill>
                <a:latin typeface="Consolas"/>
              </a:rPr>
              <a:t>toSignal()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 — pont vers un flux RxJS externe (lib tierce simulée)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263640"/>
            <a:ext cx="10820095" cy="12700"/>
          </a:xfrm>
          <a:prstGeom prst="rect">
            <a:avLst/>
          </a:prstGeom>
          <a:solidFill>
            <a:srgbClr val="D7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35508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 i="0">
                <a:solidFill>
                  <a:srgbClr val="4B5259"/>
                </a:solidFill>
                <a:latin typeface="Consolas"/>
              </a:rPr>
              <a:t>features/tasks/data-access/task-store.service.ts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B8862B"/>
                </a:solidFill>
                <a:latin typeface="Consolas"/>
              </a:rPr>
              <a:t>tasks</a:t>
            </a:r>
            <a:r>
              <a:rPr sz="1500" b="1" i="0">
                <a:solidFill>
                  <a:srgbClr val="14171C"/>
                </a:solidFill>
                <a:latin typeface="Consolas"/>
              </a:rPr>
              <a:t>.store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19895" y="4114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7C848C"/>
                </a:solidFill>
                <a:latin typeface="Segoe UI"/>
              </a:rPr>
              <a:t>Détection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4B5259"/>
                </a:solidFill>
                <a:latin typeface="Segoe UI"/>
              </a:rPr>
              <a:t>Point 2 sur 4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868680"/>
            <a:ext cx="457200" cy="31750"/>
          </a:xfrm>
          <a:prstGeom prst="rect">
            <a:avLst/>
          </a:prstGeom>
          <a:solidFill>
            <a:srgbClr val="B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108200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4171C"/>
                </a:solidFill>
                <a:latin typeface="Segoe UI Semibold"/>
              </a:rPr>
              <a:t>Stratégie de détection des composants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1082009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864"/>
              </a:spcAft>
            </a:pPr>
            <a:r>
              <a:rPr sz="1600" b="0" i="0">
                <a:solidFill>
                  <a:srgbClr val="B8862B"/>
                </a:solidFill>
                <a:latin typeface="Segoe UI"/>
              </a:rPr>
              <a:t>☐  </a:t>
            </a:r>
            <a:r>
              <a:rPr sz="1450" b="0" i="0">
                <a:solidFill>
                  <a:srgbClr val="14171C"/>
                </a:solidFill>
                <a:latin typeface="Consolas"/>
              </a:rPr>
              <a:t>ChangeDetectionStrategy.OnPush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 partout — aucun </a:t>
            </a:r>
            <a:r>
              <a:rPr sz="1450" b="0" i="0">
                <a:solidFill>
                  <a:srgbClr val="14171C"/>
                </a:solidFill>
                <a:latin typeface="Consolas"/>
              </a:rPr>
              <a:t>markForCheck()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 par défaut</a:t>
            </a:r>
          </a:p>
          <a:p>
            <a:pPr>
              <a:spcAft>
                <a:spcPts val="2864"/>
              </a:spcAft>
            </a:pPr>
            <a:r>
              <a:rPr sz="1600" b="0" i="0">
                <a:solidFill>
                  <a:srgbClr val="B8862B"/>
                </a:solidFill>
                <a:latin typeface="Segoe UI"/>
              </a:rPr>
              <a:t>☐  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Démo live : bug de mutation directe d'un tableau derrière un signal</a:t>
            </a:r>
          </a:p>
          <a:p>
            <a:pPr>
              <a:spcAft>
                <a:spcPts val="2864"/>
              </a:spcAft>
            </a:pPr>
            <a:r>
              <a:rPr sz="1600" b="0" i="0">
                <a:solidFill>
                  <a:srgbClr val="B8862B"/>
                </a:solidFill>
                <a:latin typeface="Segoe UI"/>
              </a:rPr>
              <a:t>☐  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Correctif : </a:t>
            </a:r>
            <a:r>
              <a:rPr sz="1450" b="0" i="0">
                <a:solidFill>
                  <a:srgbClr val="14171C"/>
                </a:solidFill>
                <a:latin typeface="Consolas"/>
              </a:rPr>
              <a:t>.update()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 au lieu de </a:t>
            </a:r>
            <a:r>
              <a:rPr sz="1450" b="0" i="0">
                <a:solidFill>
                  <a:srgbClr val="14171C"/>
                </a:solidFill>
                <a:latin typeface="Consolas"/>
              </a:rPr>
              <a:t>.push()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 — nouvelle référence, vue notifiée</a:t>
            </a:r>
          </a:p>
          <a:p>
            <a:pPr>
              <a:spcAft>
                <a:spcPts val="2864"/>
              </a:spcAft>
            </a:pPr>
            <a:r>
              <a:rPr sz="1600" b="0" i="0">
                <a:solidFill>
                  <a:srgbClr val="B8862B"/>
                </a:solidFill>
                <a:latin typeface="Segoe UI"/>
              </a:rPr>
              <a:t>☐  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Cas réel de </a:t>
            </a:r>
            <a:r>
              <a:rPr sz="1450" b="0" i="0">
                <a:solidFill>
                  <a:srgbClr val="14171C"/>
                </a:solidFill>
                <a:latin typeface="Consolas"/>
              </a:rPr>
              <a:t>markForCheck()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 — widget tiers hors radar Angular (</a:t>
            </a:r>
            <a:r>
              <a:rPr sz="1450" b="0" i="0">
                <a:solidFill>
                  <a:srgbClr val="14171C"/>
                </a:solidFill>
                <a:latin typeface="Consolas"/>
              </a:rPr>
              <a:t>setInterval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263640"/>
            <a:ext cx="10820095" cy="12700"/>
          </a:xfrm>
          <a:prstGeom prst="rect">
            <a:avLst/>
          </a:prstGeom>
          <a:solidFill>
            <a:srgbClr val="D7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35508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 i="0">
                <a:solidFill>
                  <a:srgbClr val="4B5259"/>
                </a:solidFill>
                <a:latin typeface="Consolas"/>
              </a:rPr>
              <a:t>_exemples-a-ne-pas-suivre/buggy-task-list.example.ts</a:t>
            </a:r>
            <a:r>
              <a:rPr sz="1150" b="0" i="0">
                <a:solidFill>
                  <a:srgbClr val="7C848C"/>
                </a:solidFill>
                <a:latin typeface="Segoe UI"/>
              </a:rPr>
              <a:t>, </a:t>
            </a:r>
            <a:r>
              <a:rPr sz="1150" b="0" i="0">
                <a:solidFill>
                  <a:srgbClr val="4B5259"/>
                </a:solidFill>
                <a:latin typeface="Consolas"/>
              </a:rPr>
              <a:t>shared/ui/legacy-tick-counter/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B8862B"/>
                </a:solidFill>
                <a:latin typeface="Consolas"/>
              </a:rPr>
              <a:t>tasks</a:t>
            </a:r>
            <a:r>
              <a:rPr sz="1500" b="1" i="0">
                <a:solidFill>
                  <a:srgbClr val="14171C"/>
                </a:solidFill>
                <a:latin typeface="Consolas"/>
              </a:rPr>
              <a:t>.store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19895" y="4114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7C848C"/>
                </a:solidFill>
                <a:latin typeface="Segoe UI"/>
              </a:rPr>
              <a:t>Injection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4B5259"/>
                </a:solidFill>
                <a:latin typeface="Segoe UI"/>
              </a:rPr>
              <a:t>Point 3 sur 4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868680"/>
            <a:ext cx="457200" cy="31750"/>
          </a:xfrm>
          <a:prstGeom prst="rect">
            <a:avLst/>
          </a:prstGeom>
          <a:solidFill>
            <a:srgbClr val="B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108200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4171C"/>
                </a:solidFill>
                <a:latin typeface="Segoe UI Semibold"/>
              </a:rPr>
              <a:t>Injection de dépendances moderne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1082009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864"/>
              </a:spcAft>
            </a:pPr>
            <a:r>
              <a:rPr sz="1600" b="0" i="0">
                <a:solidFill>
                  <a:srgbClr val="B8862B"/>
                </a:solidFill>
                <a:latin typeface="Segoe UI"/>
              </a:rPr>
              <a:t>☐  </a:t>
            </a:r>
            <a:r>
              <a:rPr sz="1450" b="0" i="0">
                <a:solidFill>
                  <a:srgbClr val="14171C"/>
                </a:solidFill>
                <a:latin typeface="Consolas"/>
              </a:rPr>
              <a:t>inject()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 en fonction partout — aucune injection par constructeur</a:t>
            </a:r>
          </a:p>
          <a:p>
            <a:pPr>
              <a:spcAft>
                <a:spcPts val="2864"/>
              </a:spcAft>
            </a:pPr>
            <a:r>
              <a:rPr sz="1600" b="0" i="0">
                <a:solidFill>
                  <a:srgbClr val="B8862B"/>
                </a:solidFill>
                <a:latin typeface="Segoe UI"/>
              </a:rPr>
              <a:t>☐  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Service global </a:t>
            </a:r>
            <a:r>
              <a:rPr sz="1450" b="0" i="0">
                <a:solidFill>
                  <a:srgbClr val="14171C"/>
                </a:solidFill>
                <a:latin typeface="Consolas"/>
              </a:rPr>
              <a:t>providedIn: 'root'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 — </a:t>
            </a:r>
            <a:r>
              <a:rPr sz="1450" b="0" i="0">
                <a:solidFill>
                  <a:srgbClr val="14171C"/>
                </a:solidFill>
                <a:latin typeface="Consolas"/>
              </a:rPr>
              <a:t>UserPreferencesService</a:t>
            </a:r>
          </a:p>
          <a:p>
            <a:pPr>
              <a:spcAft>
                <a:spcPts val="2864"/>
              </a:spcAft>
            </a:pPr>
            <a:r>
              <a:rPr sz="1600" b="0" i="0">
                <a:solidFill>
                  <a:srgbClr val="B8862B"/>
                </a:solidFill>
                <a:latin typeface="Segoe UI"/>
              </a:rPr>
              <a:t>☐  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Service scopé à la route — </a:t>
            </a:r>
            <a:r>
              <a:rPr sz="1450" b="0" i="0">
                <a:solidFill>
                  <a:srgbClr val="14171C"/>
                </a:solidFill>
                <a:latin typeface="Consolas"/>
              </a:rPr>
              <a:t>TaskStore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 fourni dans </a:t>
            </a:r>
            <a:r>
              <a:rPr sz="1450" b="0" i="0">
                <a:solidFill>
                  <a:srgbClr val="14171C"/>
                </a:solidFill>
                <a:latin typeface="Consolas"/>
              </a:rPr>
              <a:t>tasks.routes.ts</a:t>
            </a:r>
          </a:p>
          <a:p>
            <a:pPr>
              <a:spcAft>
                <a:spcPts val="2864"/>
              </a:spcAft>
            </a:pPr>
            <a:r>
              <a:rPr sz="1600" b="0" i="0">
                <a:solidFill>
                  <a:srgbClr val="B8862B"/>
                </a:solidFill>
                <a:latin typeface="Segoe UI"/>
              </a:rPr>
              <a:t>☐  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L'état ne doit pas survivre à la navigation hors de la feature</a:t>
            </a:r>
          </a:p>
          <a:p>
            <a:pPr>
              <a:spcAft>
                <a:spcPts val="2864"/>
              </a:spcAft>
            </a:pPr>
            <a:r>
              <a:rPr sz="1600" b="0" i="0">
                <a:solidFill>
                  <a:srgbClr val="B8862B"/>
                </a:solidFill>
                <a:latin typeface="Segoe UI"/>
              </a:rPr>
              <a:t>☐  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Guard fonctionnel </a:t>
            </a:r>
            <a:r>
              <a:rPr sz="1450" b="0" i="0">
                <a:solidFill>
                  <a:srgbClr val="14171C"/>
                </a:solidFill>
                <a:latin typeface="Consolas"/>
              </a:rPr>
              <a:t>CanActivateFn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 — pas de constructeur à injecter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263640"/>
            <a:ext cx="10820095" cy="12700"/>
          </a:xfrm>
          <a:prstGeom prst="rect">
            <a:avLst/>
          </a:prstGeom>
          <a:solidFill>
            <a:srgbClr val="D7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35508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 i="0">
                <a:solidFill>
                  <a:srgbClr val="4B5259"/>
                </a:solidFill>
                <a:latin typeface="Consolas"/>
              </a:rPr>
              <a:t>core/services/user-preferences.service.ts</a:t>
            </a:r>
            <a:r>
              <a:rPr sz="1150" b="0" i="0">
                <a:solidFill>
                  <a:srgbClr val="7C848C"/>
                </a:solidFill>
                <a:latin typeface="Segoe UI"/>
              </a:rPr>
              <a:t>, </a:t>
            </a:r>
            <a:r>
              <a:rPr sz="1150" b="0" i="0">
                <a:solidFill>
                  <a:srgbClr val="4B5259"/>
                </a:solidFill>
                <a:latin typeface="Consolas"/>
              </a:rPr>
              <a:t>core/guards/tasks-access.guard.ts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B8862B"/>
                </a:solidFill>
                <a:latin typeface="Consolas"/>
              </a:rPr>
              <a:t>tasks</a:t>
            </a:r>
            <a:r>
              <a:rPr sz="1500" b="1" i="0">
                <a:solidFill>
                  <a:srgbClr val="14171C"/>
                </a:solidFill>
                <a:latin typeface="Consolas"/>
              </a:rPr>
              <a:t>.store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19895" y="4114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7C848C"/>
                </a:solidFill>
                <a:latin typeface="Segoe UI"/>
              </a:rPr>
              <a:t>Smart / dumb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4B5259"/>
                </a:solidFill>
                <a:latin typeface="Segoe UI"/>
              </a:rPr>
              <a:t>Point 4 sur 4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868680"/>
            <a:ext cx="457200" cy="31750"/>
          </a:xfrm>
          <a:prstGeom prst="rect">
            <a:avLst/>
          </a:prstGeom>
          <a:solidFill>
            <a:srgbClr val="B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108200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4171C"/>
                </a:solidFill>
                <a:latin typeface="Segoe UI Semibold"/>
              </a:rPr>
              <a:t>Pattern smart / dumb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1082009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864"/>
              </a:spcAft>
            </a:pPr>
            <a:r>
              <a:rPr sz="1600" b="0" i="0">
                <a:solidFill>
                  <a:srgbClr val="B8862B"/>
                </a:solidFill>
                <a:latin typeface="Segoe UI"/>
              </a:rPr>
              <a:t>☐  </a:t>
            </a:r>
            <a:r>
              <a:rPr sz="1450" b="0" i="0">
                <a:solidFill>
                  <a:srgbClr val="14171C"/>
                </a:solidFill>
                <a:latin typeface="Consolas"/>
              </a:rPr>
              <a:t>TaskBoard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 — composant smart : orchestre, ne présente pas</a:t>
            </a:r>
          </a:p>
          <a:p>
            <a:pPr>
              <a:spcAft>
                <a:spcPts val="2864"/>
              </a:spcAft>
            </a:pPr>
            <a:r>
              <a:rPr sz="1600" b="0" i="0">
                <a:solidFill>
                  <a:srgbClr val="B8862B"/>
                </a:solidFill>
                <a:latin typeface="Segoe UI"/>
              </a:rPr>
              <a:t>☐  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Composants dumb — </a:t>
            </a:r>
            <a:r>
              <a:rPr sz="1450" b="0" i="0">
                <a:solidFill>
                  <a:srgbClr val="14171C"/>
                </a:solidFill>
                <a:latin typeface="Consolas"/>
              </a:rPr>
              <a:t>input()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 / </a:t>
            </a:r>
            <a:r>
              <a:rPr sz="1450" b="0" i="0">
                <a:solidFill>
                  <a:srgbClr val="14171C"/>
                </a:solidFill>
                <a:latin typeface="Consolas"/>
              </a:rPr>
              <a:t>output()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 uniquement : </a:t>
            </a:r>
            <a:r>
              <a:rPr sz="1450" b="0" i="0">
                <a:solidFill>
                  <a:srgbClr val="14171C"/>
                </a:solidFill>
                <a:latin typeface="Consolas"/>
              </a:rPr>
              <a:t>TaskFilterBar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, </a:t>
            </a:r>
            <a:r>
              <a:rPr sz="1450" b="0" i="0">
                <a:solidFill>
                  <a:srgbClr val="14171C"/>
                </a:solidFill>
                <a:latin typeface="Consolas"/>
              </a:rPr>
              <a:t>TaskCreateForm</a:t>
            </a:r>
          </a:p>
          <a:p>
            <a:pPr>
              <a:spcAft>
                <a:spcPts val="2864"/>
              </a:spcAft>
            </a:pPr>
            <a:r>
              <a:rPr sz="1600" b="0" i="0">
                <a:solidFill>
                  <a:srgbClr val="B8862B"/>
                </a:solidFill>
                <a:latin typeface="Segoe UI"/>
              </a:rPr>
              <a:t>☐  </a:t>
            </a:r>
            <a:r>
              <a:rPr sz="1450" b="0" i="0">
                <a:solidFill>
                  <a:srgbClr val="14171C"/>
                </a:solidFill>
                <a:latin typeface="Consolas"/>
              </a:rPr>
              <a:t>model()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 — binding bidirectionnel simple sur la case « terminé »</a:t>
            </a:r>
          </a:p>
          <a:p>
            <a:pPr>
              <a:spcAft>
                <a:spcPts val="2864"/>
              </a:spcAft>
            </a:pPr>
            <a:r>
              <a:rPr sz="1600" b="0" i="0">
                <a:solidFill>
                  <a:srgbClr val="B8862B"/>
                </a:solidFill>
                <a:latin typeface="Segoe UI"/>
              </a:rPr>
              <a:t>☐  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État UI local dans un dumb component — </a:t>
            </a:r>
            <a:r>
              <a:rPr sz="1450" b="0" i="0">
                <a:solidFill>
                  <a:srgbClr val="14171C"/>
                </a:solidFill>
                <a:latin typeface="Consolas"/>
              </a:rPr>
              <a:t>isEditing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 dans </a:t>
            </a:r>
            <a:r>
              <a:rPr sz="1450" b="0" i="0">
                <a:solidFill>
                  <a:srgbClr val="14171C"/>
                </a:solidFill>
                <a:latin typeface="Consolas"/>
              </a:rPr>
              <a:t>TaskItem</a:t>
            </a:r>
          </a:p>
          <a:p>
            <a:pPr>
              <a:spcAft>
                <a:spcPts val="2864"/>
              </a:spcAft>
            </a:pPr>
            <a:r>
              <a:rPr sz="1600" b="0" i="0">
                <a:solidFill>
                  <a:srgbClr val="B8862B"/>
                </a:solidFill>
                <a:latin typeface="Segoe UI"/>
              </a:rPr>
              <a:t>☐  </a:t>
            </a:r>
            <a:r>
              <a:rPr sz="1600" b="0" i="0">
                <a:solidFill>
                  <a:srgbClr val="14171C"/>
                </a:solidFill>
                <a:latin typeface="Segoe UI"/>
              </a:rPr>
              <a:t>Un dumb component peut porter de l'état tant que ce n'est pas de la donnée métier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263640"/>
            <a:ext cx="10820095" cy="12700"/>
          </a:xfrm>
          <a:prstGeom prst="rect">
            <a:avLst/>
          </a:prstGeom>
          <a:solidFill>
            <a:srgbClr val="D7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35508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 i="0">
                <a:solidFill>
                  <a:srgbClr val="4B5259"/>
                </a:solidFill>
                <a:latin typeface="Consolas"/>
              </a:rPr>
              <a:t>features/tasks/containers/task-board/</a:t>
            </a:r>
            <a:r>
              <a:rPr sz="1150" b="0" i="0">
                <a:solidFill>
                  <a:srgbClr val="7C848C"/>
                </a:solidFill>
                <a:latin typeface="Segoe UI"/>
              </a:rPr>
              <a:t>, </a:t>
            </a:r>
            <a:r>
              <a:rPr sz="1150" b="0" i="0">
                <a:solidFill>
                  <a:srgbClr val="4B5259"/>
                </a:solidFill>
                <a:latin typeface="Consolas"/>
              </a:rPr>
              <a:t>shared/ui/task-item/task-item.ts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B8862B"/>
                </a:solidFill>
                <a:latin typeface="Consolas"/>
              </a:rPr>
              <a:t>tasks</a:t>
            </a:r>
            <a:r>
              <a:rPr sz="1500" b="1" i="0">
                <a:solidFill>
                  <a:srgbClr val="14171C"/>
                </a:solidFill>
                <a:latin typeface="Consolas"/>
              </a:rPr>
              <a:t>.store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19895" y="4114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7C848C"/>
                </a:solidFill>
                <a:latin typeface="Segoe UI"/>
              </a:rPr>
              <a:t>Récap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4B5259"/>
                </a:solidFill>
                <a:latin typeface="Segoe UI"/>
              </a:rPr>
              <a:t>Suivi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868680"/>
            <a:ext cx="457200" cy="31750"/>
          </a:xfrm>
          <a:prstGeom prst="rect">
            <a:avLst/>
          </a:prstGeom>
          <a:solidFill>
            <a:srgbClr val="B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108200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4171C"/>
                </a:solidFill>
                <a:latin typeface="Segoe UI Semibold"/>
              </a:rPr>
              <a:t>Suivi de progression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2377440"/>
          <a:ext cx="1082009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7894015"/>
                <a:gridCol w="1463040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EDF0F2"/>
                          </a:solidFill>
                          <a:latin typeface="Segoe UI Semibold"/>
                        </a:rPr>
                        <a:t>Étape</a:t>
                      </a:r>
                    </a:p>
                  </a:txBody>
                  <a:tcPr marL="137160" anchor="ctr"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EDF0F2"/>
                          </a:solidFill>
                          <a:latin typeface="Segoe UI Semibold"/>
                        </a:rPr>
                        <a:t>Sujet</a:t>
                      </a:r>
                    </a:p>
                  </a:txBody>
                  <a:tcPr marL="137160" anchor="ctr"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EDF0F2"/>
                          </a:solidFill>
                          <a:latin typeface="Segoe UI Semibold"/>
                        </a:rPr>
                        <a:t>Fait</a:t>
                      </a:r>
                    </a:p>
                  </a:txBody>
                  <a:tcPr marL="137160" anchor="ctr">
                    <a:solidFill>
                      <a:srgbClr val="14171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4171C"/>
                          </a:solidFill>
                          <a:latin typeface="Consolas"/>
                        </a:rPr>
                        <a:t>Setup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4171C"/>
                          </a:solidFill>
                          <a:latin typeface="Segoe UI"/>
                        </a:rPr>
                        <a:t>Projet Angular 21 standalone / zoneless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B8862B"/>
                          </a:solidFill>
                          <a:latin typeface="Segoe UI"/>
                        </a:rPr>
                        <a:t>☐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4171C"/>
                          </a:solidFill>
                          <a:latin typeface="Consolas"/>
                        </a:rPr>
                        <a:t>Point 1</a:t>
                      </a:r>
                    </a:p>
                  </a:txBody>
                  <a:tcPr marL="137160" anchor="ctr"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4171C"/>
                          </a:solidFill>
                          <a:latin typeface="Segoe UI"/>
                        </a:rPr>
                        <a:t>Signals et opérateurs</a:t>
                      </a:r>
                    </a:p>
                  </a:txBody>
                  <a:tcPr marL="137160" anchor="ctr"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B8862B"/>
                          </a:solidFill>
                          <a:latin typeface="Segoe UI"/>
                        </a:rPr>
                        <a:t>☐</a:t>
                      </a:r>
                    </a:p>
                  </a:txBody>
                  <a:tcPr marL="137160" anchor="ctr">
                    <a:solidFill>
                      <a:srgbClr val="EDF0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4171C"/>
                          </a:solidFill>
                          <a:latin typeface="Consolas"/>
                        </a:rPr>
                        <a:t>Point 2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4171C"/>
                          </a:solidFill>
                          <a:latin typeface="Segoe UI"/>
                        </a:rPr>
                        <a:t>Stratégie de détection des composants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B8862B"/>
                          </a:solidFill>
                          <a:latin typeface="Segoe UI"/>
                        </a:rPr>
                        <a:t>☐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4171C"/>
                          </a:solidFill>
                          <a:latin typeface="Consolas"/>
                        </a:rPr>
                        <a:t>Point 3</a:t>
                      </a:r>
                    </a:p>
                  </a:txBody>
                  <a:tcPr marL="137160" anchor="ctr"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4171C"/>
                          </a:solidFill>
                          <a:latin typeface="Segoe UI"/>
                        </a:rPr>
                        <a:t>Injection de dépendances moderne</a:t>
                      </a:r>
                    </a:p>
                  </a:txBody>
                  <a:tcPr marL="137160" anchor="ctr"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B8862B"/>
                          </a:solidFill>
                          <a:latin typeface="Segoe UI"/>
                        </a:rPr>
                        <a:t>☐</a:t>
                      </a:r>
                    </a:p>
                  </a:txBody>
                  <a:tcPr marL="137160" anchor="ctr">
                    <a:solidFill>
                      <a:srgbClr val="EDF0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4171C"/>
                          </a:solidFill>
                          <a:latin typeface="Consolas"/>
                        </a:rPr>
                        <a:t>Point 4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4171C"/>
                          </a:solidFill>
                          <a:latin typeface="Segoe UI"/>
                        </a:rPr>
                        <a:t>Pattern smart / dumb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B8862B"/>
                          </a:solidFill>
                          <a:latin typeface="Segoe UI"/>
                        </a:rPr>
                        <a:t>☐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85800" y="6263640"/>
            <a:ext cx="10820095" cy="12700"/>
          </a:xfrm>
          <a:prstGeom prst="rect">
            <a:avLst/>
          </a:prstGeom>
          <a:solidFill>
            <a:srgbClr val="D7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35508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 i="0">
                <a:solidFill>
                  <a:srgbClr val="7C848C"/>
                </a:solidFill>
                <a:latin typeface="Segoe UI"/>
              </a:rPr>
              <a:t>À cocher en direct pendant la session — voir aussi </a:t>
            </a:r>
            <a:r>
              <a:rPr sz="1150" b="0" i="0">
                <a:solidFill>
                  <a:srgbClr val="4B5259"/>
                </a:solidFill>
                <a:latin typeface="Consolas"/>
              </a:rPr>
              <a:t>README.md</a:t>
            </a:r>
            <a:r>
              <a:rPr sz="1150" b="0" i="0">
                <a:solidFill>
                  <a:srgbClr val="7C848C"/>
                </a:solidFill>
                <a:latin typeface="Segoe UI"/>
              </a:rPr>
              <a:t> du projet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74320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4171C"/>
                </a:solidFill>
                <a:latin typeface="Segoe UI Semibold"/>
              </a:rPr>
              <a:t>Merci — questions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52044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B8862B"/>
                </a:solidFill>
                <a:latin typeface="Consolas"/>
              </a:rPr>
              <a:t>yarn start</a:t>
            </a:r>
            <a:r>
              <a:rPr sz="1500" b="0" i="0">
                <a:solidFill>
                  <a:srgbClr val="4B5259"/>
                </a:solidFill>
                <a:latin typeface="Segoe UI"/>
              </a:rPr>
              <a:t>  pour relancer la démo</a:t>
            </a:r>
          </a:p>
          <a:p>
            <a:r>
              <a:rPr sz="1500" b="0" i="0">
                <a:solidFill>
                  <a:srgbClr val="4B5259"/>
                </a:solidFill>
                <a:latin typeface="Segoe UI"/>
              </a:rPr>
              <a:t>Détail fichier par fichier dans </a:t>
            </a:r>
            <a:r>
              <a:rPr sz="1500" b="0" i="0">
                <a:solidFill>
                  <a:srgbClr val="B8862B"/>
                </a:solidFill>
                <a:latin typeface="Consolas"/>
              </a:rPr>
              <a:t>README.md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